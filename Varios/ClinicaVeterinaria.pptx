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3353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3259" y="792187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3600" b="1" dirty="0">
                <a:solidFill>
                  <a:schemeClr val="bg1"/>
                </a:solidFill>
              </a:rPr>
              <a:t>Sistema de Gestión de Consultas y Expedientes en una Clínica Veterinaria</a:t>
            </a:r>
            <a:endParaRPr lang="en-US" sz="3400" b="1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7D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Wayner Xavier Granda Bustamante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0" y="4114800"/>
            <a:ext cx="9144000" cy="9144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 dirty="0"/>
          </a:p>
        </p:txBody>
      </p:sp>
      <p:sp>
        <p:nvSpPr>
          <p:cNvPr id="17" name="Text 15"/>
          <p:cNvSpPr/>
          <p:nvPr/>
        </p:nvSpPr>
        <p:spPr>
          <a:xfrm>
            <a:off x="457200" y="4160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Bimestral — Programación Orientada a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30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5E3B96D1-D19D-75EC-6F2B-8609AB85589F}"/>
              </a:ext>
            </a:extLst>
          </p:cNvPr>
          <p:cNvSpPr/>
          <p:nvPr/>
        </p:nvSpPr>
        <p:spPr>
          <a:xfrm>
            <a:off x="731520" y="310588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7D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Santiago Josue Castillo Vivanco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7D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Fernando Julian Silverio Jaramillo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Problema que resuelve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clínicas veterinarias manejan información de forma manual o desorganizada: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F5C6C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73152" cy="45720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658368" y="1527048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Registros de mascotas y dueños en papel — fácil de perder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75688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5C6C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Shape 7"/>
          <p:cNvSpPr/>
          <p:nvPr/>
        </p:nvSpPr>
        <p:spPr>
          <a:xfrm>
            <a:off x="457200" y="2075688"/>
            <a:ext cx="73152" cy="45720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658368" y="2093976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Sin historial médico organizado por paciente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42616"/>
            <a:ext cx="8229600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F5C6C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Shape 10"/>
          <p:cNvSpPr/>
          <p:nvPr/>
        </p:nvSpPr>
        <p:spPr>
          <a:xfrm>
            <a:off x="457200" y="2642616"/>
            <a:ext cx="73152" cy="45720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658368" y="2660904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Citas sin control de estado (pendiente / atendida / cancelada)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09544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5C6C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Shape 13"/>
          <p:cNvSpPr/>
          <p:nvPr/>
        </p:nvSpPr>
        <p:spPr>
          <a:xfrm>
            <a:off x="457200" y="3209544"/>
            <a:ext cx="73152" cy="45720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658368" y="3227832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Facturación manual sin cálculo automático de totales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776472"/>
            <a:ext cx="8229600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F5C6C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Shape 16"/>
          <p:cNvSpPr/>
          <p:nvPr/>
        </p:nvSpPr>
        <p:spPr>
          <a:xfrm>
            <a:off x="457200" y="3776472"/>
            <a:ext cx="73152" cy="45720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Text 17"/>
          <p:cNvSpPr/>
          <p:nvPr/>
        </p:nvSpPr>
        <p:spPr>
          <a:xfrm>
            <a:off x="658368" y="3794760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Sin métricas para tomar decisiones clínicas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solidFill>
            <a:srgbClr val="E1F5EE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Text 19"/>
          <p:cNvSpPr/>
          <p:nvPr/>
        </p:nvSpPr>
        <p:spPr>
          <a:xfrm>
            <a:off x="594360" y="4407408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Nuestro sistema digitaliza y centraliza toda la gestión de la clínica en una sola aplicación.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Caso de Uso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principal: Secretaria / Administrador de la clínica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160520" cy="822960"/>
          </a:xfrm>
          <a:prstGeom prst="rect">
            <a:avLst/>
          </a:prstGeom>
          <a:solidFill>
            <a:srgbClr val="F8F8F8"/>
          </a:solidFill>
          <a:ln w="12700">
            <a:solidFill>
              <a:srgbClr val="5B4FB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73152" cy="822960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621792" y="15636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 — Registrar Dueño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185623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administrador ingresa nombre, teléfono y dirección del propietario.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508760"/>
            <a:ext cx="4160520" cy="822960"/>
          </a:xfrm>
          <a:prstGeom prst="rect">
            <a:avLst/>
          </a:prstGeom>
          <a:solidFill>
            <a:srgbClr val="F8F8F8"/>
          </a:solidFill>
          <a:ln w="12700">
            <a:solidFill>
              <a:srgbClr val="0F7B6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Shape 8"/>
          <p:cNvSpPr/>
          <p:nvPr/>
        </p:nvSpPr>
        <p:spPr>
          <a:xfrm>
            <a:off x="4800600" y="1508760"/>
            <a:ext cx="73152" cy="822960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4965192" y="15636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— Registrar Mascota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5192" y="185623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 la mascota a su dueño por ID con especie, raza y edad.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4160520" cy="822960"/>
          </a:xfrm>
          <a:prstGeom prst="rect">
            <a:avLst/>
          </a:prstGeom>
          <a:solidFill>
            <a:srgbClr val="F8F8F8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73152" cy="82296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3"/>
          <p:cNvSpPr/>
          <p:nvPr/>
        </p:nvSpPr>
        <p:spPr>
          <a:xfrm>
            <a:off x="621792" y="25694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— Agendar Cita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" y="286207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una cita con fecha, hora, motivo y estado (Pendiente).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2514600"/>
            <a:ext cx="4160520" cy="822960"/>
          </a:xfrm>
          <a:prstGeom prst="rect">
            <a:avLst/>
          </a:prstGeom>
          <a:solidFill>
            <a:srgbClr val="F8F8F8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Shape 16"/>
          <p:cNvSpPr/>
          <p:nvPr/>
        </p:nvSpPr>
        <p:spPr>
          <a:xfrm>
            <a:off x="4800600" y="2514600"/>
            <a:ext cx="73152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Text 17"/>
          <p:cNvSpPr/>
          <p:nvPr/>
        </p:nvSpPr>
        <p:spPr>
          <a:xfrm>
            <a:off x="4965192" y="25694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UC4 — Registrar Consulta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65192" y="286207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 diagnóstico y tratamiento de la mascota atendida.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4160520" cy="822960"/>
          </a:xfrm>
          <a:prstGeom prst="rect">
            <a:avLst/>
          </a:prstGeom>
          <a:solidFill>
            <a:srgbClr val="F8F8F8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Shape 20"/>
          <p:cNvSpPr/>
          <p:nvPr/>
        </p:nvSpPr>
        <p:spPr>
          <a:xfrm>
            <a:off x="457200" y="3520440"/>
            <a:ext cx="73152" cy="82296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Text 21"/>
          <p:cNvSpPr/>
          <p:nvPr/>
        </p:nvSpPr>
        <p:spPr>
          <a:xfrm>
            <a:off x="621792" y="35753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UC5 — Generar Factura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386791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automáticamente consulta + exámenes + medicamentos.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520440"/>
            <a:ext cx="4160520" cy="822960"/>
          </a:xfrm>
          <a:prstGeom prst="rect">
            <a:avLst/>
          </a:prstGeom>
          <a:solidFill>
            <a:srgbClr val="F8F8F8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Shape 24"/>
          <p:cNvSpPr/>
          <p:nvPr/>
        </p:nvSpPr>
        <p:spPr>
          <a:xfrm>
            <a:off x="4800600" y="3520440"/>
            <a:ext cx="73152" cy="82296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" name="Text 25"/>
          <p:cNvSpPr/>
          <p:nvPr/>
        </p:nvSpPr>
        <p:spPr>
          <a:xfrm>
            <a:off x="4965192" y="35753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UC6 — Ver Métricas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65192" y="386791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estadísticas: consultas por veterinario, mascotas por especie.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Diseño de la Solución — Arquitectura MVC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3200400"/>
          </a:xfrm>
          <a:prstGeom prst="rect">
            <a:avLst/>
          </a:prstGeom>
          <a:solidFill>
            <a:srgbClr val="F8FAF8"/>
          </a:solidFill>
          <a:ln w="19050">
            <a:solidFill>
              <a:srgbClr val="5B4FB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457200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(M)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6459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Duenio</a:t>
            </a:r>
            <a:r>
              <a:rPr lang="en-US" sz="100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Mascota</a:t>
            </a:r>
            <a:r>
              <a:rPr lang="en-US" sz="100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Veterinario</a:t>
            </a: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" y="3566160"/>
            <a:ext cx="2432304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5B4FB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475488" y="356616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4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clases · implements Serializable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51760" cy="3200400"/>
          </a:xfrm>
          <a:prstGeom prst="rect">
            <a:avLst/>
          </a:prstGeom>
          <a:solidFill>
            <a:srgbClr val="F8FAF8"/>
          </a:solidFill>
          <a:ln w="19050">
            <a:solidFill>
              <a:srgbClr val="0F7B6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Shape 9"/>
          <p:cNvSpPr/>
          <p:nvPr/>
        </p:nvSpPr>
        <p:spPr>
          <a:xfrm>
            <a:off x="3246120" y="1097280"/>
            <a:ext cx="2651760" cy="457200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324612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 (C)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55848" y="16459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GestorClinica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55848" y="3566160"/>
            <a:ext cx="2432304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F7B6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3"/>
          <p:cNvSpPr/>
          <p:nvPr/>
        </p:nvSpPr>
        <p:spPr>
          <a:xfrm>
            <a:off x="3355848" y="356616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+ 6 archivos .dat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2651760" cy="3200400"/>
          </a:xfrm>
          <a:prstGeom prst="rect">
            <a:avLst/>
          </a:prstGeom>
          <a:solidFill>
            <a:srgbClr val="F8FAF8"/>
          </a:solidFill>
          <a:ln w="190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Shape 15"/>
          <p:cNvSpPr/>
          <p:nvPr/>
        </p:nvSpPr>
        <p:spPr>
          <a:xfrm>
            <a:off x="6126480" y="1097280"/>
            <a:ext cx="2651760" cy="457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612648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(V)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6208" y="16459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VentanaPrincipal</a:t>
            </a:r>
            <a:endParaRPr lang="en-US" sz="1000"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VentanaDuenios</a:t>
            </a:r>
            <a:r>
              <a:rPr lang="en-US" sz="100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VentanaMascotas</a:t>
            </a:r>
            <a:endParaRPr lang="en-US" sz="1000"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VentanaVeterinarios</a:t>
            </a:r>
            <a:r>
              <a:rPr lang="en-US" sz="100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VentanaConsultas</a:t>
            </a:r>
            <a:endParaRPr lang="en-US" sz="1000"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VentanaCitas</a:t>
            </a:r>
            <a:r>
              <a:rPr lang="en-US" sz="100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VentanaFacturacion</a:t>
            </a:r>
            <a:endParaRPr lang="en-US" sz="1000"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VentanaMetricas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36208" y="3566160"/>
            <a:ext cx="2432304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Text 19"/>
          <p:cNvSpPr/>
          <p:nvPr/>
        </p:nvSpPr>
        <p:spPr>
          <a:xfrm>
            <a:off x="6236208" y="356616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ventanas Swing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017520" y="2560320"/>
            <a:ext cx="22860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Shape 21"/>
          <p:cNvSpPr/>
          <p:nvPr/>
        </p:nvSpPr>
        <p:spPr>
          <a:xfrm>
            <a:off x="5897880" y="2560320"/>
            <a:ext cx="22860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Text 22"/>
          <p:cNvSpPr/>
          <p:nvPr/>
        </p:nvSpPr>
        <p:spPr>
          <a:xfrm>
            <a:off x="365760" y="4251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Vista llama al Controlador · El Controlador usa el Modelo · El Modelo nunca toca la pantalla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7233"/>
            <a:ext cx="9144000" cy="914400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Diseño de la Solución — Diagrama de Clases UML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clases del modelo implementan Serializable para guardarse en archivos .dat</a:t>
            </a:r>
            <a:endParaRPr lang="en-US" sz="1000" dirty="0"/>
          </a:p>
        </p:txBody>
      </p:sp>
      <p:pic>
        <p:nvPicPr>
          <p:cNvPr id="53" name="Imagen 52">
            <a:extLst>
              <a:ext uri="{FF2B5EF4-FFF2-40B4-BE49-F238E27FC236}">
                <a16:creationId xmlns:a16="http://schemas.microsoft.com/office/drawing/2014/main" id="{86D238DB-6688-BE1E-B328-5EC9623F5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9341"/>
            <a:ext cx="9144000" cy="38448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Serialización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Objetos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persisten los datos en archivos .dat?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20624" cy="420624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527048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en memoria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746504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new Duenio(1, "Carlos", "099...")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67512" y="1938528"/>
            <a:ext cx="0" cy="246888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Shape 8"/>
          <p:cNvSpPr/>
          <p:nvPr/>
        </p:nvSpPr>
        <p:spPr>
          <a:xfrm>
            <a:off x="457200" y="2185416"/>
            <a:ext cx="420624" cy="420624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457200" y="21854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203704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ObjectOutputStream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42316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el objeto en bytes y los escribe en el archivo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" y="2615184"/>
            <a:ext cx="0" cy="246888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Shape 13"/>
          <p:cNvSpPr/>
          <p:nvPr/>
        </p:nvSpPr>
        <p:spPr>
          <a:xfrm>
            <a:off x="457200" y="2862072"/>
            <a:ext cx="420624" cy="42062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457200" y="28620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880360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.dat en disco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099816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duenios.dat — persiste aunque se cierre el programa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7512" y="3291840"/>
            <a:ext cx="0" cy="246888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Shape 18"/>
          <p:cNvSpPr/>
          <p:nvPr/>
        </p:nvSpPr>
        <p:spPr>
          <a:xfrm>
            <a:off x="457200" y="3538728"/>
            <a:ext cx="420624" cy="42062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Text 19"/>
          <p:cNvSpPr/>
          <p:nvPr/>
        </p:nvSpPr>
        <p:spPr>
          <a:xfrm>
            <a:off x="457200" y="35387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557016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ObjectInputStream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77647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reabrir: lee los bytes y reconstruye el objeto original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solidFill>
            <a:srgbClr val="E0F2F0"/>
          </a:solidFill>
          <a:ln w="12700">
            <a:solidFill>
              <a:srgbClr val="0F7B6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" name="Text 23"/>
          <p:cNvSpPr/>
          <p:nvPr/>
        </p:nvSpPr>
        <p:spPr>
          <a:xfrm>
            <a:off x="594360" y="431596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archivos .dat: duenios · mascotas · veterinarios · consultas · citas · facturas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Demostración del Sistema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completo en vivo: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47472" cy="347472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147218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veterinario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0" y="1472184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Torres — Medicina General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0" y="1508760"/>
            <a:ext cx="0" cy="256032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347472" cy="347472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2688" y="192938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dueño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0" y="1929384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Pérez — 0991234567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0" y="1965960"/>
            <a:ext cx="0" cy="256032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347472" cy="347472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457200" y="2377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2688" y="238658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mascota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31920" y="2386584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— Perro Labrador — vinculado al dueño ID:1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0" y="2423160"/>
            <a:ext cx="0" cy="256032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347472" cy="34747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Text 19"/>
          <p:cNvSpPr/>
          <p:nvPr/>
        </p:nvSpPr>
        <p:spPr>
          <a:xfrm>
            <a:off x="457200" y="2834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" y="284378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cita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31920" y="2843784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28/05/2025 — 10:30 — Revisión general — Estado: Pendiente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40480" y="2880360"/>
            <a:ext cx="0" cy="256032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" name="Shape 23"/>
          <p:cNvSpPr/>
          <p:nvPr/>
        </p:nvSpPr>
        <p:spPr>
          <a:xfrm>
            <a:off x="457200" y="3291840"/>
            <a:ext cx="347472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457200" y="3291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32688" y="330098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consulta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31920" y="3300984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Diagnóstico: Infección en oído — Tratamiento: Antibiótico 7 días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40480" y="3337560"/>
            <a:ext cx="0" cy="256032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Shape 28"/>
          <p:cNvSpPr/>
          <p:nvPr/>
        </p:nvSpPr>
        <p:spPr>
          <a:xfrm>
            <a:off x="457200" y="3749040"/>
            <a:ext cx="347472" cy="34747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" name="Text 29"/>
          <p:cNvSpPr/>
          <p:nvPr/>
        </p:nvSpPr>
        <p:spPr>
          <a:xfrm>
            <a:off x="457200" y="3749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32688" y="375818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factura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931920" y="3758184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$20 + Exámenes $15 + Medicamentos $8 = Total: $43.00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840480" y="3794760"/>
            <a:ext cx="0" cy="256032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5" name="Shape 33"/>
          <p:cNvSpPr/>
          <p:nvPr/>
        </p:nvSpPr>
        <p:spPr>
          <a:xfrm>
            <a:off x="457200" y="4206240"/>
            <a:ext cx="347472" cy="34747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6" name="Text 34"/>
          <p:cNvSpPr/>
          <p:nvPr/>
        </p:nvSpPr>
        <p:spPr>
          <a:xfrm>
            <a:off x="457200" y="4206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32688" y="421538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y reabrir el programa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931920" y="4215384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datos persisten → serialización funcionando ✅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840480" y="4251960"/>
            <a:ext cx="0" cy="256032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Módulos del Sistema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011680" cy="1325880"/>
          </a:xfrm>
          <a:prstGeom prst="rect">
            <a:avLst/>
          </a:prstGeom>
          <a:solidFill>
            <a:srgbClr val="F8F8F8"/>
          </a:solidFill>
          <a:ln w="12700">
            <a:solidFill>
              <a:srgbClr val="5B4FB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011680" cy="411480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Dueños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gestión de propietarios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097280"/>
            <a:ext cx="2011680" cy="1325880"/>
          </a:xfrm>
          <a:prstGeom prst="rect">
            <a:avLst/>
          </a:prstGeom>
          <a:solidFill>
            <a:srgbClr val="F8F8F8"/>
          </a:solidFill>
          <a:ln w="12700">
            <a:solidFill>
              <a:srgbClr val="5B4FB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Shape 7"/>
          <p:cNvSpPr/>
          <p:nvPr/>
        </p:nvSpPr>
        <p:spPr>
          <a:xfrm>
            <a:off x="2514600" y="1097280"/>
            <a:ext cx="2011680" cy="411480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2514600" y="1097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🐶 Mascotas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06040" y="1600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Vinculadas a dueños por ID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2011680" cy="1325880"/>
          </a:xfrm>
          <a:prstGeom prst="rect">
            <a:avLst/>
          </a:prstGeom>
          <a:solidFill>
            <a:srgbClr val="F8F8F8"/>
          </a:solidFill>
          <a:ln w="12700">
            <a:solidFill>
              <a:srgbClr val="0F7B6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2011680" cy="411480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4663440" y="1097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👨‍⚕️ Veterinarios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600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médico con especialidad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1097280"/>
            <a:ext cx="2011680" cy="1325880"/>
          </a:xfrm>
          <a:prstGeom prst="rect">
            <a:avLst/>
          </a:prstGeom>
          <a:solidFill>
            <a:srgbClr val="F8F8F8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Shape 15"/>
          <p:cNvSpPr/>
          <p:nvPr/>
        </p:nvSpPr>
        <p:spPr>
          <a:xfrm>
            <a:off x="6812280" y="1097280"/>
            <a:ext cx="2011680" cy="4114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6812280" y="1097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Consultas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03720" y="1600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 médico con diagnóstico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651760"/>
            <a:ext cx="2011680" cy="1325880"/>
          </a:xfrm>
          <a:prstGeom prst="rect">
            <a:avLst/>
          </a:prstGeom>
          <a:solidFill>
            <a:srgbClr val="F8F8F8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Shape 19"/>
          <p:cNvSpPr/>
          <p:nvPr/>
        </p:nvSpPr>
        <p:spPr>
          <a:xfrm>
            <a:off x="365760" y="2651760"/>
            <a:ext cx="2011680" cy="41148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365760" y="2651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Citas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154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con estado y horario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14600" y="2651760"/>
            <a:ext cx="2011680" cy="1325880"/>
          </a:xfrm>
          <a:prstGeom prst="rect">
            <a:avLst/>
          </a:prstGeom>
          <a:solidFill>
            <a:srgbClr val="F8F8F8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" name="Shape 23"/>
          <p:cNvSpPr/>
          <p:nvPr/>
        </p:nvSpPr>
        <p:spPr>
          <a:xfrm>
            <a:off x="2514600" y="2651760"/>
            <a:ext cx="2011680" cy="41148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2514600" y="2651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Facturación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06040" y="3154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automático de totales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2651760"/>
            <a:ext cx="2011680" cy="1325880"/>
          </a:xfrm>
          <a:prstGeom prst="rect">
            <a:avLst/>
          </a:prstGeom>
          <a:solidFill>
            <a:srgbClr val="F8F8F8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9" name="Shape 27"/>
          <p:cNvSpPr/>
          <p:nvPr/>
        </p:nvSpPr>
        <p:spPr>
          <a:xfrm>
            <a:off x="4663440" y="2651760"/>
            <a:ext cx="2011680" cy="41148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4663440" y="2651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Métricas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3154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clínicas del sistema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12280" y="2651760"/>
            <a:ext cx="2011680" cy="1325880"/>
          </a:xfrm>
          <a:prstGeom prst="rect">
            <a:avLst/>
          </a:prstGeom>
          <a:solidFill>
            <a:srgbClr val="F8F8F8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" name="Shape 31"/>
          <p:cNvSpPr/>
          <p:nvPr/>
        </p:nvSpPr>
        <p:spPr>
          <a:xfrm>
            <a:off x="6812280" y="2651760"/>
            <a:ext cx="2011680" cy="4114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" name="Text 32"/>
          <p:cNvSpPr/>
          <p:nvPr/>
        </p:nvSpPr>
        <p:spPr>
          <a:xfrm>
            <a:off x="6812280" y="2651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Menú Principal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03720" y="3154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central del sistema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4292E"/>
          </a:solidFill>
          <a:ln w="12700">
            <a:solidFill>
              <a:srgbClr val="24292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Repositorio en GitHub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repositorio: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ClinicaVeterinaria/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9019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src/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24942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4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├── modelo/          → Duenio, Mascota, Veterinario, Consulta, Cita, Factura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59689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7B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├── controlador/     → GestorClinica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9443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vista/           → VentanaPrincipal + 7 ventanas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291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Modelado_UML/        → diagrama .dia + imagen .png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6393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 README.md            → descripción del proyecto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F0F0F0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594360" y="404164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 / [tu-usuario] / ClinicaVeterinaria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Incluye: código fuente · diagrama UML · archivo .dia exportado como .png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463040" cy="54864"/>
          </a:xfrm>
          <a:prstGeom prst="rect">
            <a:avLst/>
          </a:prstGeom>
          <a:solidFill>
            <a:srgbClr val="22A86A"/>
          </a:solidFill>
          <a:ln w="12700">
            <a:solidFill>
              <a:srgbClr val="22A86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292608" cy="292608"/>
          </a:xfrm>
          <a:prstGeom prst="rect">
            <a:avLst/>
          </a:prstGeom>
          <a:solidFill>
            <a:srgbClr val="22A86A"/>
          </a:solidFill>
          <a:ln w="12700">
            <a:solidFill>
              <a:srgbClr val="22A86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25272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MVC aplicado correctamente: modelo, controlador y vista en paquetes separados.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292608" cy="292608"/>
          </a:xfrm>
          <a:prstGeom prst="rect">
            <a:avLst/>
          </a:prstGeom>
          <a:solidFill>
            <a:srgbClr val="22A86A"/>
          </a:solidFill>
          <a:ln w="12700">
            <a:solidFill>
              <a:srgbClr val="22A86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80136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Serialización Java: 6 archivos .dat guardan objetos completos sin base de datos.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331720"/>
            <a:ext cx="292608" cy="292608"/>
          </a:xfrm>
          <a:prstGeom prst="rect">
            <a:avLst/>
          </a:prstGeom>
          <a:solidFill>
            <a:srgbClr val="22A86A"/>
          </a:solidFill>
          <a:ln w="12700">
            <a:solidFill>
              <a:srgbClr val="22A86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35000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Swing completa con 8 ventanas de navegación fluida.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880360"/>
            <a:ext cx="292608" cy="292608"/>
          </a:xfrm>
          <a:prstGeom prst="rect">
            <a:avLst/>
          </a:prstGeom>
          <a:solidFill>
            <a:srgbClr val="22A86A"/>
          </a:solidFill>
          <a:ln w="12700">
            <a:solidFill>
              <a:srgbClr val="22A86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640080" y="2880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89864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de integridad: no se permite registrar mascotas sin dueño existente.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292608" cy="292608"/>
          </a:xfrm>
          <a:prstGeom prst="rect">
            <a:avLst/>
          </a:prstGeom>
          <a:solidFill>
            <a:srgbClr val="22A86A"/>
          </a:solidFill>
          <a:ln w="12700">
            <a:solidFill>
              <a:srgbClr val="22A86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44728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automática con cálculo de totales (consulta + exámenes + medicamentos).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292608" cy="292608"/>
          </a:xfrm>
          <a:prstGeom prst="rect">
            <a:avLst/>
          </a:prstGeom>
          <a:solidFill>
            <a:srgbClr val="22A86A"/>
          </a:solidFill>
          <a:ln w="12700">
            <a:solidFill>
              <a:srgbClr val="22A86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640080" y="3977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399592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clínicas para apoyo en la toma de decisiones administrativas.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663440"/>
            <a:ext cx="9144000" cy="5486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Text 21"/>
          <p:cNvSpPr/>
          <p:nvPr/>
        </p:nvSpPr>
        <p:spPr>
          <a:xfrm>
            <a:off x="457200" y="4681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  —  ¿Preguntas?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752</Words>
  <Application>Microsoft Office PowerPoint</Application>
  <PresentationFormat>Presentación en pantalla (16:9)</PresentationFormat>
  <Paragraphs>142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Santiago Castillo</cp:lastModifiedBy>
  <cp:revision>2</cp:revision>
  <dcterms:created xsi:type="dcterms:W3CDTF">2026-05-28T02:12:27Z</dcterms:created>
  <dcterms:modified xsi:type="dcterms:W3CDTF">2026-05-28T02:40:22Z</dcterms:modified>
</cp:coreProperties>
</file>